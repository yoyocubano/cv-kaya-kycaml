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606040" cy="10689336"/>
          </a:xfrm>
          <a:prstGeom prst="rect">
            <a:avLst/>
          </a:prstGeom>
          <a:solidFill>
            <a:srgbClr val="22262D"/>
          </a:solidFill>
          <a:ln>
            <a:solidFill>
              <a:srgbClr val="22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vatar_circul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50292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224028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  <a:latin typeface="Arial"/>
              </a:defRPr>
            </a:pPr>
            <a:r>
              <a:t>SANTIAGO</a:t>
            </a:r>
            <a:br/>
            <a:r>
              <a:t>JARAMILLO</a:t>
            </a:r>
          </a:p>
          <a:p>
            <a:pPr algn="ctr">
              <a:spcBef>
                <a:spcPts val="400"/>
              </a:spcBef>
              <a:defRPr sz="850">
                <a:solidFill>
                  <a:srgbClr val="C8CFDA"/>
                </a:solidFill>
                <a:latin typeface="Arial"/>
              </a:defRPr>
            </a:pPr>
            <a:r>
              <a:t>OPERACIONES • LOGÍSTICA</a:t>
            </a:r>
            <a:br/>
            <a:r>
              <a:t>MANTENIMIENTO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38328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FFFFFF"/>
                </a:solidFill>
                <a:latin typeface="Arial"/>
              </a:defRPr>
            </a:pPr>
            <a:r>
              <a:t>CONTACTO DIRECTO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TELÉFONO / WHATSAPP
</a:t>
            </a:r>
            <a:r>
              <a:rPr sz="819">
                <a:solidFill>
                  <a:srgbClr val="B4BCC8"/>
                </a:solidFill>
                <a:latin typeface="Arial"/>
              </a:rPr>
              <a:t>+57 324 161 7921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CORREO ELECTRÓNICO
</a:t>
            </a:r>
            <a:r>
              <a:rPr sz="819">
                <a:solidFill>
                  <a:srgbClr val="B4BCC8"/>
                </a:solidFill>
                <a:latin typeface="Arial"/>
              </a:rPr>
              <a:t>mizatok@gmail.com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CIUDAD Y PAÍS
</a:t>
            </a:r>
            <a:r>
              <a:rPr sz="819">
                <a:solidFill>
                  <a:srgbClr val="B4BCC8"/>
                </a:solidFill>
                <a:latin typeface="Arial"/>
              </a:rPr>
              <a:t>Medellín, Antioquia, Colombia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DIRECCIÓN
</a:t>
            </a:r>
            <a:r>
              <a:rPr sz="819">
                <a:solidFill>
                  <a:srgbClr val="B4BCC8"/>
                </a:solidFill>
                <a:latin typeface="Arial"/>
              </a:rPr>
              <a:t>Calle 42b # 120c - 47, B. Eduardo Santos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44068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FFFFFF"/>
                </a:solidFill>
                <a:latin typeface="Arial"/>
              </a:defRPr>
            </a:pPr>
            <a:r>
              <a:t>DATOS CLAVE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CÉDULA DE CIUDADANÍA
</a:t>
            </a:r>
            <a:r>
              <a:rPr sz="819">
                <a:solidFill>
                  <a:srgbClr val="B4BCC8"/>
                </a:solidFill>
                <a:latin typeface="Arial"/>
              </a:rPr>
              <a:t>C.C. 1.152.211.346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FECHA DE NACIMIENTO
</a:t>
            </a:r>
            <a:r>
              <a:rPr sz="819">
                <a:solidFill>
                  <a:srgbClr val="B4BCC8"/>
                </a:solidFill>
                <a:latin typeface="Arial"/>
              </a:rPr>
              <a:t>11 de noviembre de 1995</a:t>
            </a:r>
          </a:p>
          <a:p>
            <a:pPr>
              <a:spcBef>
                <a:spcPts val="300"/>
              </a:spcBef>
            </a:pPr>
            <a:r>
              <a:rPr b="1" sz="780">
                <a:solidFill>
                  <a:srgbClr val="FFFFFF"/>
                </a:solidFill>
                <a:latin typeface="Arial"/>
              </a:rPr>
              <a:t>DISPONIBILIDAD
</a:t>
            </a:r>
            <a:r>
              <a:rPr sz="819">
                <a:solidFill>
                  <a:srgbClr val="B4BCC8"/>
                </a:solidFill>
                <a:latin typeface="Arial"/>
              </a:rPr>
              <a:t>Inmediata / Turnos rotativos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7804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FFFFFF"/>
                </a:solidFill>
              </a:defRPr>
            </a:pPr>
            <a:r>
              <a:t>COMPETENCIAS</a:t>
            </a:r>
          </a:p>
          <a:p>
            <a:pPr>
              <a:spcBef>
                <a:spcPts val="250"/>
              </a:spcBef>
            </a:pPr>
            <a:r>
              <a:rPr sz="800">
                <a:solidFill>
                  <a:srgbClr val="D2DAE6"/>
                </a:solidFill>
              </a:rPr>
              <a:t>▪ Orientación al logro y cuotas</a:t>
            </a:r>
          </a:p>
          <a:p>
            <a:pPr>
              <a:spcBef>
                <a:spcPts val="250"/>
              </a:spcBef>
            </a:pPr>
            <a:r>
              <a:rPr sz="800">
                <a:solidFill>
                  <a:srgbClr val="D2DAE6"/>
                </a:solidFill>
              </a:rPr>
              <a:t>▪ Aprendizaje ágil y autodidacta</a:t>
            </a:r>
          </a:p>
          <a:p>
            <a:pPr>
              <a:spcBef>
                <a:spcPts val="250"/>
              </a:spcBef>
            </a:pPr>
            <a:r>
              <a:rPr sz="800">
                <a:solidFill>
                  <a:srgbClr val="D2DAE6"/>
                </a:solidFill>
              </a:rPr>
              <a:t>▪ Trabajo en equipo y comunicación</a:t>
            </a:r>
          </a:p>
          <a:p>
            <a:pPr>
              <a:spcBef>
                <a:spcPts val="250"/>
              </a:spcBef>
            </a:pPr>
            <a:r>
              <a:rPr sz="800">
                <a:solidFill>
                  <a:srgbClr val="D2DAE6"/>
                </a:solidFill>
              </a:rPr>
              <a:t>▪ Resolución técnica en sitio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89611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FFFFFF"/>
                </a:solidFill>
              </a:defRPr>
            </a:pPr>
            <a:r>
              <a:t>IDIOMAS</a:t>
            </a:r>
          </a:p>
          <a:p>
            <a:r>
              <a:rPr b="1" sz="800">
                <a:solidFill>
                  <a:srgbClr val="FFFFFF"/>
                </a:solidFill>
              </a:rPr>
              <a:t>Español: </a:t>
            </a:r>
            <a:r>
              <a:rPr sz="800">
                <a:solidFill>
                  <a:srgbClr val="B4BCC8"/>
                </a:solidFill>
              </a:rPr>
              <a:t>Nativo / Lengua materna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02920"/>
            <a:ext cx="4343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4181E"/>
                </a:solidFill>
              </a:defRPr>
            </a:pPr>
            <a:r>
              <a:t>PERFIL PROFESIONAL</a:t>
            </a:r>
          </a:p>
          <a:p>
            <a:pPr>
              <a:lnSpc>
                <a:spcPct val="125000"/>
              </a:lnSpc>
            </a:pPr>
            <a:r>
              <a:rPr sz="850">
                <a:solidFill>
                  <a:srgbClr val="2D343E"/>
                </a:solidFill>
              </a:rPr>
              <a:t>Profesional responsable, organizado y con sólida orientación al trabajo en equipo. Alta capacidad de adaptación a turnos y funciones exigentes, con aprendizaje rápido y ejecución multitarea eficiente. Experiencia comprobada en labores operativas, manejo y calibración de maquinaria industrial, logística de transporte, control de inventarios y mantenimiento locativo integral (redes eléctricas básicas, fontanería y acabados). Destacado por su compromiso ético, disciplina operativa y resolución de contingencias en sitio.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4343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4181E"/>
                </a:solidFill>
              </a:defRPr>
            </a:pPr>
            <a:r>
              <a:t>EXPERIENCIA LABORAL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181E"/>
                </a:solidFill>
              </a:rPr>
              <a:t>Encargado de Minimercado</a:t>
            </a:r>
          </a:p>
          <a:p>
            <a:r>
              <a:rPr sz="800">
                <a:solidFill>
                  <a:srgbClr val="5A6473"/>
                </a:solidFill>
              </a:rPr>
              <a:t>6 meses – Actualmente laborando | Medellín, Colombia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Dirección integral de operaciones: </a:t>
            </a:r>
            <a:r>
              <a:rPr sz="800">
                <a:solidFill>
                  <a:srgbClr val="323A46"/>
                </a:solidFill>
              </a:rPr>
              <a:t>Liderazgo en atención al cliente, control riguroso de caja, arqueos diarios, supervisión de inventarios y surtido estratégico de mercancía.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Mantenimiento locativo y adecuación: </a:t>
            </a:r>
            <a:r>
              <a:rPr sz="800">
                <a:solidFill>
                  <a:srgbClr val="323A46"/>
                </a:solidFill>
              </a:rPr>
              <a:t>Ejecución de mantenimiento preventivo, reparaciones técnicas básicas y aseo profundo para garantizar 100% de operatividad higiénica.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181E"/>
                </a:solidFill>
              </a:rPr>
              <a:t>Auxiliar de Logística y Operaciones</a:t>
            </a:r>
          </a:p>
          <a:p>
            <a:r>
              <a:rPr sz="800">
                <a:solidFill>
                  <a:srgbClr val="5A6473"/>
                </a:solidFill>
              </a:rPr>
              <a:t>1 año | One Eventos | Medellín, Colombia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Infraestructura técnica y montaje: </a:t>
            </a:r>
            <a:r>
              <a:rPr sz="800">
                <a:solidFill>
                  <a:srgbClr val="323A46"/>
                </a:solidFill>
              </a:rPr>
              <a:t>Coordinación y montaje de mobiliario, cableado y recursos logísticos para eventos masivos, corporativos y comerciales de alta exigencia.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Control de flujos y contingencias: </a:t>
            </a:r>
            <a:r>
              <a:rPr sz="800">
                <a:solidFill>
                  <a:srgbClr val="323A46"/>
                </a:solidFill>
              </a:rPr>
              <a:t>Gestión de accesos, supervisión de protocolos de seguridad en sitio y resolución ágil de imprevistos operativos en tiempo real.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181E"/>
                </a:solidFill>
              </a:rPr>
              <a:t>Gestor de Transporte Logístico</a:t>
            </a:r>
          </a:p>
          <a:p>
            <a:r>
              <a:rPr sz="800">
                <a:solidFill>
                  <a:srgbClr val="5A6473"/>
                </a:solidFill>
              </a:rPr>
              <a:t>Más de 3 años | InDriver | Área Metropolitana de Medellín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Servicio y movilidad urbana: </a:t>
            </a:r>
            <a:r>
              <a:rPr sz="800">
                <a:solidFill>
                  <a:srgbClr val="323A46"/>
                </a:solidFill>
              </a:rPr>
              <a:t>Prestación de servicios de movilidad bajo estándares rigurosos de puntualidad, seguridad y calificación positiva continua.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Optimización de rutas y mantenimiento: </a:t>
            </a:r>
            <a:r>
              <a:rPr sz="800">
                <a:solidFill>
                  <a:srgbClr val="323A46"/>
                </a:solidFill>
              </a:rPr>
              <a:t>Planificación de rutas eficientes, cumplimiento de tiempos de entrega y ejecución de mantenimiento preventivo vehicular.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4181E"/>
                </a:solidFill>
              </a:rPr>
              <a:t>Operario de Maquinaria Industrial</a:t>
            </a:r>
          </a:p>
          <a:p>
            <a:r>
              <a:rPr sz="800">
                <a:solidFill>
                  <a:srgbClr val="5A6473"/>
                </a:solidFill>
              </a:rPr>
              <a:t>Más de 3 años | Empresa de Manufactura (Familiar) | Medellín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Operación y puesta a punto: </a:t>
            </a:r>
            <a:r>
              <a:rPr sz="800">
                <a:solidFill>
                  <a:srgbClr val="323A46"/>
                </a:solidFill>
              </a:rPr>
              <a:t>Calibración, ajuste y puesta en marcha de maquinaria especializada para cumplir cuotas de fabricación y minimizar mermas de material.</a:t>
            </a:r>
          </a:p>
          <a:p>
            <a:pPr>
              <a:spcBef>
                <a:spcPts val="150"/>
              </a:spcBef>
            </a:pPr>
            <a:r>
              <a:rPr b="1" sz="850">
                <a:solidFill>
                  <a:srgbClr val="22262D"/>
                </a:solidFill>
              </a:rPr>
              <a:t>• </a:t>
            </a:r>
            <a:r>
              <a:rPr b="1" sz="800">
                <a:solidFill>
                  <a:srgbClr val="14181E"/>
                </a:solidFill>
              </a:rPr>
              <a:t>Calidad y despacho técnico: </a:t>
            </a:r>
            <a:r>
              <a:rPr sz="800">
                <a:solidFill>
                  <a:srgbClr val="323A46"/>
                </a:solidFill>
              </a:rPr>
              <a:t>Inspección de producto terminado, embalaje seguro, almacenamiento técnico y preparación para despacho logístico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685800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14181E"/>
                </a:solidFill>
              </a:defRPr>
            </a:pPr>
            <a:r>
              <a:t>FORMACIÓN ACADÉMICA</a:t>
            </a:r>
          </a:p>
          <a:p>
            <a:r>
              <a:rPr b="1" sz="900">
                <a:solidFill>
                  <a:srgbClr val="14181E"/>
                </a:solidFill>
              </a:rPr>
              <a:t>Bachiller Académico (2017)</a:t>
            </a:r>
          </a:p>
          <a:p>
            <a:r>
              <a:rPr sz="800">
                <a:solidFill>
                  <a:srgbClr val="5A6473"/>
                </a:solidFill>
              </a:rPr>
              <a:t>Colegio Samuel Barrientos, Medellín, Colombia • Énfasis en formación y disciplina operativa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7818120"/>
            <a:ext cx="4343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100">
                <a:solidFill>
                  <a:srgbClr val="14181E"/>
                </a:solidFill>
              </a:defRPr>
            </a:pPr>
            <a:r>
              <a:t>HABILIDADES Y OFICIOS TÉCNICOS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8183879"/>
            <a:ext cx="2057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780">
                <a:solidFill>
                  <a:srgbClr val="14181E"/>
                </a:solidFill>
              </a:rPr>
              <a:t>Maquinaria operativa industrial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8385047"/>
            <a:ext cx="2057400" cy="73152"/>
          </a:xfrm>
          <a:prstGeom prst="round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8385047"/>
            <a:ext cx="1851660" cy="73152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8183879"/>
            <a:ext cx="2057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780">
                <a:solidFill>
                  <a:srgbClr val="14181E"/>
                </a:solidFill>
              </a:rPr>
              <a:t>Mantenimiento locativo y aseo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8385047"/>
            <a:ext cx="2057400" cy="73152"/>
          </a:xfrm>
          <a:prstGeom prst="round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8385047"/>
            <a:ext cx="1954530" cy="73152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8567927"/>
            <a:ext cx="2057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780">
                <a:solidFill>
                  <a:srgbClr val="14181E"/>
                </a:solidFill>
              </a:rPr>
              <a:t>Gestión de inventarios y caja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8769095"/>
            <a:ext cx="2057400" cy="73152"/>
          </a:xfrm>
          <a:prstGeom prst="round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0" y="8769095"/>
            <a:ext cx="1810512" cy="73152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8567927"/>
            <a:ext cx="2057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780">
                <a:solidFill>
                  <a:srgbClr val="14181E"/>
                </a:solidFill>
              </a:rPr>
              <a:t>Reparaciones eléctricas básicas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8769095"/>
            <a:ext cx="2057400" cy="73152"/>
          </a:xfrm>
          <a:prstGeom prst="round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0" y="8769095"/>
            <a:ext cx="1687068" cy="73152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8951975"/>
            <a:ext cx="2057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780">
                <a:solidFill>
                  <a:srgbClr val="14181E"/>
                </a:solidFill>
              </a:rPr>
              <a:t>Fontanería y redes de acueducto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9153143"/>
            <a:ext cx="2057400" cy="73152"/>
          </a:xfrm>
          <a:prstGeom prst="round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26080" y="9153143"/>
            <a:ext cx="1645920" cy="73152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8951975"/>
            <a:ext cx="2057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780">
                <a:solidFill>
                  <a:srgbClr val="14181E"/>
                </a:solidFill>
              </a:rPr>
              <a:t>Acabados, obra blanca y pintura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9153143"/>
            <a:ext cx="2057400" cy="73152"/>
          </a:xfrm>
          <a:prstGeom prst="round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12080" y="9153143"/>
            <a:ext cx="1769364" cy="73152"/>
          </a:xfrm>
          <a:prstGeom prst="roundRect">
            <a:avLst/>
          </a:prstGeom>
          <a:solidFill>
            <a:srgbClr val="22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946404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b="1" sz="780">
                <a:solidFill>
                  <a:srgbClr val="22262D"/>
                </a:solidFill>
              </a:defRPr>
            </a:pPr>
            <a:r>
              <a:t>✔ Optimización de procesos y cuotas        ✔ Trabajo en equipo y comunicación</a:t>
            </a:r>
            <a:br/>
            <a:r>
              <a:t>✔ Adaptabilidad técnica y polivalencia        ✔ Resolución técnica inmediata en sitio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